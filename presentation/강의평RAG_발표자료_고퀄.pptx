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60520"/>
            <a:ext cx="12191695" cy="64008"/>
          </a:xfrm>
          <a:prstGeom prst="rect">
            <a:avLst/>
          </a:prstGeom>
          <a:solidFill>
            <a:srgbClr val="E0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맑은 고딕"/>
              </a:rPr>
              <a:t>에브리타임 강의평 기반</a:t>
            </a:r>
          </a:p>
          <a:p>
            <a:pPr algn="ctr"/>
            <a:r>
              <a:rPr sz="4000" b="1">
                <a:solidFill>
                  <a:srgbClr val="FFFFFF"/>
                </a:solidFill>
                <a:latin typeface="맑은 고딕"/>
              </a:rPr>
              <a:t>RAG 수강신청 AI 비서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C8D2E8"/>
                </a:solidFill>
                <a:latin typeface="맑은 고딕"/>
              </a:rPr>
              <a:t>우리 학교 실제 강의평을 근거로, 자연어 한 줄에 맞춤 수강 추천</a:t>
            </a:r>
          </a:p>
          <a:p>
            <a:pPr algn="ctr">
              <a:spcAft>
                <a:spcPts val="600"/>
              </a:spcAft>
            </a:pPr>
            <a:r>
              <a:rPr sz="1500" b="0">
                <a:solidFill>
                  <a:srgbClr val="C8D2E8"/>
                </a:solidFill>
                <a:latin typeface="맑은 고딕"/>
              </a:rPr>
              <a:t>가천대 5과목 · 직접 크롤링 187건 · 벡터 RAG · Claude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146304" cy="457200"/>
          </a:xfrm>
          <a:prstGeom prst="rect">
            <a:avLst/>
          </a:prstGeom>
          <a:solidFill>
            <a:srgbClr val="E0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603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맑은 고딕"/>
              </a:rPr>
              <a:t>문제 (Pain Points)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맑은 고딕"/>
              </a:rPr>
              <a:t>강의평 RAG AI 비서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463040"/>
            <a:ext cx="104241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16213E"/>
                </a:solidFill>
                <a:latin typeface="맑은 고딕"/>
              </a:rPr>
              <a:t>▪  수강신청마다 강의평 수십~수백 개를 직접 스크롤·비교 → 시간 낭비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6213E"/>
                </a:solidFill>
                <a:latin typeface="맑은 고딕"/>
              </a:rPr>
              <a:t>▪  '학점 3.5 사수', '과제 적은 과목' 같은 목표 맞춤 추천이 없음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6213E"/>
                </a:solidFill>
                <a:latin typeface="맑은 고딕"/>
              </a:rPr>
              <a:t>▪  일반 AI 챗봇은 우리 학교 강의평을 몰라 거짓 정보(환각)를 답함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6213E"/>
                </a:solidFill>
                <a:latin typeface="맑은 고딕"/>
              </a:rPr>
              <a:t>▪  → 우리 학교 데이터에 근거해 답하는 지능형 비서가 필요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146304" cy="457200"/>
          </a:xfrm>
          <a:prstGeom prst="rect">
            <a:avLst/>
          </a:prstGeom>
          <a:solidFill>
            <a:srgbClr val="E0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603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맑은 고딕"/>
              </a:rPr>
              <a:t>해결: RAG (검색 증강 생성)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맑은 고딕"/>
              </a:rPr>
              <a:t>강의평 RAG AI 비서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463040"/>
            <a:ext cx="104241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16213E"/>
                </a:solidFill>
                <a:latin typeface="맑은 고딕"/>
              </a:rPr>
              <a:t>▪  RAG = '오픈북 시험' 방식 AI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6213E"/>
                </a:solidFill>
                <a:latin typeface="맑은 고딕"/>
              </a:rPr>
              <a:t>▪  ① 검색: 강의평 DB에서 질문 관련 리뷰를 찾아옴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6213E"/>
                </a:solidFill>
                <a:latin typeface="맑은 고딕"/>
              </a:rPr>
              <a:t>▪  ② 생성: 찾아온 리뷰'만' 근거로 답을 생성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6213E"/>
                </a:solidFill>
                <a:latin typeface="맑은 고딕"/>
              </a:rPr>
              <a:t>▪  모델 재학습이 아님 → 데이터만 바꾸면 즉시 우리 학교용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6213E"/>
                </a:solidFill>
                <a:latin typeface="맑은 고딕"/>
              </a:rPr>
              <a:t>▪  근거 없으면 '데이터 없음'이라 솔직히 거부 → 환각 방지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146304" cy="457200"/>
          </a:xfrm>
          <a:prstGeom prst="rect">
            <a:avLst/>
          </a:prstGeom>
          <a:solidFill>
            <a:srgbClr val="E0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603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맑은 고딕"/>
              </a:rPr>
              <a:t>서비스 개요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맑은 고딕"/>
              </a:rPr>
              <a:t>강의평 RAG AI 비서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맑은 고딕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17320"/>
            <a:ext cx="55778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0">
                <a:solidFill>
                  <a:srgbClr val="16213E"/>
                </a:solidFill>
                <a:latin typeface="맑은 고딕"/>
              </a:rPr>
              <a:t>▪  자연어 한 줄 질문 → 근거(출처) 포함 답변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16213E"/>
                </a:solidFill>
                <a:latin typeface="맑은 고딕"/>
              </a:rPr>
              <a:t>▪  과목 필터 · 참고 리뷰 수 조절 · 출처 펼쳐보기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16213E"/>
                </a:solidFill>
                <a:latin typeface="맑은 고딕"/>
              </a:rPr>
              <a:t>▪  API 키 없이도 동작(오프라인 요약)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16213E"/>
                </a:solidFill>
                <a:latin typeface="맑은 고딕"/>
              </a:rPr>
              <a:t>▪  키 넣으면 Claude로 자연어 답변 업그레이드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19088" y="1789410"/>
            <a:ext cx="5449824" cy="37363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62562"/>
            <a:ext cx="5303520" cy="35900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92240" y="5989320"/>
            <a:ext cx="5303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4A4A4A"/>
                </a:solidFill>
                <a:latin typeface="맑은 고딕"/>
              </a:rPr>
              <a:t>▲ 실제 채팅 웹앱 화면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146304" cy="457200"/>
          </a:xfrm>
          <a:prstGeom prst="rect">
            <a:avLst/>
          </a:prstGeom>
          <a:solidFill>
            <a:srgbClr val="E0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603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맑은 고딕"/>
              </a:rPr>
              <a:t>데이터: 직접 수집한 실제 강의평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맑은 고딕"/>
              </a:rPr>
              <a:t>강의평 RAG AI 비서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맑은 고딕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463040"/>
            <a:ext cx="104241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16213E"/>
                </a:solidFill>
                <a:latin typeface="맑은 고딕"/>
              </a:rPr>
              <a:t>▪  대상: 가천대 5과목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4A4A4A"/>
                </a:solidFill>
                <a:latin typeface="맑은 고딕"/>
              </a:rPr>
              <a:t>◦  확률과 통계 · 모바일프로그래밍 · 빅데이터분석개론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4A4A4A"/>
                </a:solidFill>
                <a:latin typeface="맑은 고딕"/>
              </a:rPr>
              <a:t>◦  스마트기기시스템 · 블록체인개론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6213E"/>
                </a:solidFill>
                <a:latin typeface="맑은 고딕"/>
              </a:rPr>
              <a:t>▪  수집: Playwright 브라우저 자동화 → 강의평 187건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6213E"/>
                </a:solidFill>
                <a:latin typeface="맑은 고딕"/>
              </a:rPr>
              <a:t>▪  스키마: 학교·교수·과목·수강학기·평점·리뷰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6213E"/>
                </a:solidFill>
                <a:latin typeface="맑은 고딕"/>
              </a:rPr>
              <a:t>▪  정제: 중복 제거, 외국인반/공학인증/영어강의 제외, 과목명 통일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146304" cy="457200"/>
          </a:xfrm>
          <a:prstGeom prst="rect">
            <a:avLst/>
          </a:prstGeom>
          <a:solidFill>
            <a:srgbClr val="E0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603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맑은 고딕"/>
              </a:rPr>
              <a:t>시스템 아키텍처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맑은 고딕"/>
              </a:rPr>
              <a:t>강의평 RAG AI 비서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맑은 고딕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463040"/>
            <a:ext cx="104241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16213E"/>
                </a:solidFill>
                <a:latin typeface="맑은 고딕"/>
              </a:rPr>
              <a:t>▪  [크롤러] everytime_crawler.py (Playwright)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4A4A4A"/>
                </a:solidFill>
                <a:latin typeface="맑은 고딕"/>
              </a:rPr>
              <a:t>◦  → reviews_real.csv (187건)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6213E"/>
                </a:solidFill>
                <a:latin typeface="맑은 고딕"/>
              </a:rPr>
              <a:t>▪  [인덱싱] 임베딩(LSA) → 벡터 저장소(numpy)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6213E"/>
                </a:solidFill>
                <a:latin typeface="맑은 고딕"/>
              </a:rPr>
              <a:t>▪  [검색] 질문 임베딩 → 코사인 최근접 top-k + 교수/과목 필터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6213E"/>
                </a:solidFill>
                <a:latin typeface="맑은 고딕"/>
              </a:rPr>
              <a:t>▪  [생성] Claude API (없으면 규칙기반 오프라인 폴백)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6213E"/>
                </a:solidFill>
                <a:latin typeface="맑은 고딕"/>
              </a:rPr>
              <a:t>▪  [서비스] Streamlit 채팅 웹앱 (공개 URL)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146304" cy="457200"/>
          </a:xfrm>
          <a:prstGeom prst="rect">
            <a:avLst/>
          </a:prstGeom>
          <a:solidFill>
            <a:srgbClr val="E0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603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맑은 고딕"/>
              </a:rPr>
              <a:t>핵심 기능 (요구사항 3.1~3.4)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맑은 고딕"/>
              </a:rPr>
              <a:t>강의평 RAG AI 비서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맑은 고딕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463040"/>
            <a:ext cx="104241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16213E"/>
                </a:solidFill>
                <a:latin typeface="맑은 고딕"/>
              </a:rPr>
              <a:t>▪  3.1 의미 검색: 글자가 안 겹쳐도 뜻으로 관련 강의평 검색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6213E"/>
                </a:solidFill>
                <a:latin typeface="맑은 고딕"/>
              </a:rPr>
              <a:t>▪  3.2 속성 필터: 교수·과목으로 좁혀 정확도 향상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6213E"/>
                </a:solidFill>
                <a:latin typeface="맑은 고딕"/>
              </a:rPr>
              <a:t>▪  3.3 출처 표기: (가천대 모바일프로그래밍 26년 1학기 평점 5점 리뷰 참고)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6213E"/>
                </a:solidFill>
                <a:latin typeface="맑은 고딕"/>
              </a:rPr>
              <a:t>▪  3.4 환각 방지: 데이터 없는 교수/과목은 솔직히 거부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146304" cy="457200"/>
          </a:xfrm>
          <a:prstGeom prst="rect">
            <a:avLst/>
          </a:prstGeom>
          <a:solidFill>
            <a:srgbClr val="E0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603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맑은 고딕"/>
              </a:rPr>
              <a:t>데모 — 질문과 근거 기반 답변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맑은 고딕"/>
              </a:rPr>
              <a:t>강의평 RAG AI 비서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맑은 고딕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95480" y="1298448"/>
            <a:ext cx="7170558" cy="4901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2_ans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632" y="1371600"/>
            <a:ext cx="7024254" cy="4754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6172200"/>
            <a:ext cx="10332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맑은 고딕"/>
              </a:rPr>
              <a:t>▲ '모바일프로그래밍 학점 잘 주는 교수?' → 교수별 비교 + 출처(학기·평점) 자동 표기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146304" cy="457200"/>
          </a:xfrm>
          <a:prstGeom prst="rect">
            <a:avLst/>
          </a:prstGeom>
          <a:solidFill>
            <a:srgbClr val="E0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603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맑은 고딕"/>
              </a:rPr>
              <a:t>기술 의사결정 · 트러블슈팅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맑은 고딕"/>
              </a:rPr>
              <a:t>강의평 RAG AI 비서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맑은 고딕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463040"/>
            <a:ext cx="104241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16213E"/>
                </a:solidFill>
                <a:latin typeface="맑은 고딕"/>
              </a:rPr>
              <a:t>▪  ChromaDB·onnx·torch가 환경에서 네이티브 충돌(세그폴트)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4A4A4A"/>
                </a:solidFill>
                <a:latin typeface="맑은 고딕"/>
              </a:rPr>
              <a:t>◦  → 순수 numpy 벡터 저장소로 동일 기능 구현(의존성 0)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6213E"/>
                </a:solidFill>
                <a:latin typeface="맑은 고딕"/>
              </a:rPr>
              <a:t>▪  에타는 Vue SPA: 요소 렌더 대기 + 강의평 탭 URL 직접 이동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6213E"/>
                </a:solidFill>
                <a:latin typeface="맑은 고딕"/>
              </a:rPr>
              <a:t>▪  검색→클릭 방식의 멈춤 → 강의 URL 수집 후 직접 이동으로 해결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6213E"/>
                </a:solidFill>
                <a:latin typeface="맑은 고딕"/>
              </a:rPr>
              <a:t>▪  약관·계정 보호: 자동수집 리스크 인지, 최소 요청·지연 적용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146304" cy="457200"/>
          </a:xfrm>
          <a:prstGeom prst="rect">
            <a:avLst/>
          </a:prstGeom>
          <a:solidFill>
            <a:srgbClr val="E0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603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맑은 고딕"/>
              </a:rPr>
              <a:t>답변 생성 · 비용 · 배포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맑은 고딕"/>
              </a:rPr>
              <a:t>강의평 RAG AI 비서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맑은 고딕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463040"/>
            <a:ext cx="104241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16213E"/>
                </a:solidFill>
                <a:latin typeface="맑은 고딕"/>
              </a:rPr>
              <a:t>▪  생성: Claude(기본 Haiku 4.5) / 키 없으면 오프라인 요약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6213E"/>
                </a:solidFill>
                <a:latin typeface="맑은 고딕"/>
              </a:rPr>
              <a:t>▪  프롬프트 캐싱으로 반복 입력 토큰 비용 절감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6213E"/>
                </a:solidFill>
                <a:latin typeface="맑은 고딕"/>
              </a:rPr>
              <a:t>▪  비용(대략): 질문 1건 ≈ 6원(Haiku) — 하루 수십 질문도 월 수천 원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6213E"/>
                </a:solidFill>
                <a:latin typeface="맑은 고딕"/>
              </a:rPr>
              <a:t>▪  배포: Streamlit Cloud 공개 URL, API 키는 Secrets로 안전 관리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146304" cy="457200"/>
          </a:xfrm>
          <a:prstGeom prst="rect">
            <a:avLst/>
          </a:prstGeom>
          <a:solidFill>
            <a:srgbClr val="E0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603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맑은 고딕"/>
              </a:rPr>
              <a:t>기대 효과 &amp; 향후 계획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맑은 고딕"/>
              </a:rPr>
              <a:t>강의평 RAG AI 비서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맑은 고딕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463040"/>
            <a:ext cx="104241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16213E"/>
                </a:solidFill>
                <a:latin typeface="맑은 고딕"/>
              </a:rPr>
              <a:t>▪  수강신청 탐색 시간 대폭 단축, 목표(학점/과제) 맞춤 수강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6213E"/>
                </a:solidFill>
                <a:latin typeface="맑은 고딕"/>
              </a:rPr>
              <a:t>▪  근거(출처) 기반이라 신뢰도 높고 환각 없음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6213E"/>
                </a:solidFill>
                <a:latin typeface="맑은 고딕"/>
              </a:rPr>
              <a:t>▪  확장: 과목 추가 크롤링, 강의계획서(PDF)·시험정보 보강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6213E"/>
                </a:solidFill>
                <a:latin typeface="맑은 고딕"/>
              </a:rPr>
              <a:t>▪  캠퍼스 RAG 생태계(족보·장학·학사공지)로 확장 가능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C8D2E8"/>
                </a:solidFill>
                <a:latin typeface="맑은 고딕"/>
              </a:rPr>
              <a:t>github.com/whtjdgjs12/everytime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